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9" Type="http://schemas.openxmlformats.org/officeDocument/2006/relationships/viewProps" Target="viewProps.xml" /><Relationship Id="rId28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31" Type="http://schemas.openxmlformats.org/officeDocument/2006/relationships/tableStyles" Target="tableStyles.xml" /><Relationship Id="rId30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Descriptive Group-Level Summaries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br/>
            <a:br/>
            <a:r>
              <a:rPr/>
              <a:t>Lesley Chapman Hannah, Ph.D., M.S.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Lecture Goal(s)</a:t>
            </a:r>
          </a:p>
          <a:p>
            <a:pPr lvl="0" indent="0" marL="0">
              <a:buNone/>
            </a:pPr>
            <a:r>
              <a:rPr b="1"/>
              <a:t>Central focus:</a:t>
            </a:r>
          </a:p>
          <a:p>
            <a:pPr lvl="0"/>
            <a:r>
              <a:rPr/>
              <a:t>descriptive analysis often compares groups defined by treatment, disease status, or cohort membership</a:t>
            </a:r>
          </a:p>
          <a:p>
            <a:pPr lvl="0"/>
            <a:r>
              <a:rPr/>
              <a:t>discuss how group summaries and comparative plots reveal differences in location, spread, and distribution</a:t>
            </a:r>
          </a:p>
          <a:p>
            <a:pPr lvl="0" indent="0" marL="0">
              <a:buNone/>
            </a:pPr>
            <a:r>
              <a:rPr/>
              <a:t>Here we ask:</a:t>
            </a:r>
          </a:p>
          <a:p>
            <a:pPr lvl="0" indent="0" marL="1270000">
              <a:buNone/>
            </a:pPr>
            <a:r>
              <a:rPr sz="2000" b="1"/>
              <a:t>How do group summaries and comparative plots reveal differences in location, spread, and distribution?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Descriptive group analysis</a:t>
            </a:r>
          </a:p>
          <a:p>
            <a:pPr lvl="0" indent="0" marL="0">
              <a:buNone/>
            </a:pPr>
            <a:r>
              <a:rPr/>
              <a:t>Descriptive Group Analysis involves:</a:t>
            </a:r>
          </a:p>
          <a:p>
            <a:pPr lvl="0"/>
            <a:r>
              <a:rPr/>
              <a:t>summarizing the full sample</a:t>
            </a:r>
          </a:p>
          <a:p>
            <a:pPr lvl="0"/>
            <a:r>
              <a:rPr/>
              <a:t>stratifying by a clinically meaningful grouping variable</a:t>
            </a:r>
          </a:p>
          <a:p>
            <a:pPr lvl="0"/>
            <a:r>
              <a:rPr/>
              <a:t>visualizing group-specific patterns</a:t>
            </a:r>
          </a:p>
          <a:p>
            <a:pPr lvl="0"/>
            <a:r>
              <a:rPr/>
              <a:t>interpreting scientifically meaningful patterns and trends</a:t>
            </a:r>
          </a:p>
          <a:p>
            <a:pPr lvl="0" indent="0" marL="0">
              <a:buNone/>
            </a:pPr>
            <a:r>
              <a:rPr/>
              <a:t>Where</a:t>
            </a:r>
          </a:p>
          <a:p>
            <a:pPr lvl="0"/>
            <a:r>
              <a:rPr b="1"/>
              <a:t>overall summary</a:t>
            </a:r>
            <a:r>
              <a:rPr/>
              <a:t>: single description computed across all observations together</a:t>
            </a:r>
          </a:p>
          <a:p>
            <a:pPr lvl="0"/>
            <a:r>
              <a:rPr b="1"/>
              <a:t>group-specific summary</a:t>
            </a:r>
            <a:r>
              <a:rPr/>
              <a:t>: separate description computed within each subgroup</a:t>
            </a:r>
          </a:p>
          <a:p>
            <a:pPr lvl="0"/>
            <a:r>
              <a:rPr b="1"/>
              <a:t>comparative plot</a:t>
            </a:r>
            <a:r>
              <a:rPr/>
              <a:t>: visualization designed to compare groups directly</a:t>
            </a:r>
          </a:p>
          <a:p>
            <a:pPr lvl="0"/>
            <a:r>
              <a:rPr b="1"/>
              <a:t>scientific interpretation</a:t>
            </a:r>
            <a:r>
              <a:rPr/>
              <a:t>: the biomedical meaning assigned to observed differences in center, spread, or shape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Lecture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Key Terms</a:t>
            </a:r>
          </a:p>
          <a:p>
            <a:pPr lvl="0"/>
            <a:r>
              <a:rPr b="1"/>
              <a:t>group</a:t>
            </a:r>
            <a:r>
              <a:rPr/>
              <a:t>: a set of observations sharing the same category, such as treatment arm or disease class</a:t>
            </a:r>
          </a:p>
          <a:p>
            <a:pPr lvl="0"/>
            <a:r>
              <a:rPr b="1"/>
              <a:t>location</a:t>
            </a:r>
            <a:r>
              <a:rPr/>
              <a:t>: where values tend to be centered, often described by the mean or median</a:t>
            </a:r>
          </a:p>
          <a:p>
            <a:pPr lvl="0"/>
            <a:r>
              <a:rPr b="1"/>
              <a:t>spread</a:t>
            </a:r>
            <a:r>
              <a:rPr/>
              <a:t>: how variable the observations are, often described by the standard deviation or IQR</a:t>
            </a:r>
          </a:p>
          <a:p>
            <a:pPr lvl="0"/>
            <a:r>
              <a:rPr b="1"/>
              <a:t>distribution</a:t>
            </a:r>
            <a:r>
              <a:rPr/>
              <a:t>: the overall pattern of values, including center, spread, skewness, and tail behavior</a:t>
            </a:r>
          </a:p>
          <a:p>
            <a:pPr lvl="0"/>
            <a:r>
              <a:rPr b="1"/>
              <a:t>heterogeneity</a:t>
            </a:r>
            <a:r>
              <a:rPr/>
              <a:t>: meaningful variation across subgroups rather than within one pooled population alone</a:t>
            </a:r>
          </a:p>
          <a:p>
            <a:pPr lvl="0" indent="0" marL="0">
              <a:buNone/>
            </a:pPr>
            <a:r>
              <a:rPr b="1"/>
              <a:t>Tools [select]</a:t>
            </a:r>
            <a:r>
              <a:rPr/>
              <a:t>:</a:t>
            </a:r>
          </a:p>
          <a:p>
            <a:pPr lvl="0"/>
            <a:r>
              <a:rPr/>
              <a:t>mean and median by group</a:t>
            </a:r>
            <a:br/>
          </a:p>
          <a:p>
            <a:pPr lvl="0"/>
            <a:r>
              <a:rPr/>
              <a:t>summary tables</a:t>
            </a:r>
            <a:br/>
          </a:p>
          <a:p>
            <a:pPr lvl="0"/>
            <a:r>
              <a:rPr/>
              <a:t>boxplots</a:t>
            </a:r>
            <a:br/>
          </a:p>
          <a:p>
            <a:pPr lvl="0"/>
            <a:r>
              <a:rPr/>
              <a:t>violin plots</a:t>
            </a:r>
            <a:br/>
          </a:p>
          <a:p>
            <a:pPr lvl="0"/>
            <a:r>
              <a:rPr/>
              <a:t>interpretation of subgroup heterogeneity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Group Comparisons: Background</a:t>
            </a:r>
          </a:p>
          <a:p>
            <a:pPr lvl="0"/>
            <a:r>
              <a:rPr>
                <a:latin typeface="Courier"/>
              </a:rPr>
              <a:t>group comparison</a:t>
            </a:r>
            <a:r>
              <a:rPr/>
              <a:t> : asks whether the observed values of a variable look different once the sample is partitioned by a biologically or clinically meaningful categorical variable such as treatment arm, disease status, or cohort membership</a:t>
            </a:r>
          </a:p>
          <a:p>
            <a:pPr lvl="0"/>
            <a:r>
              <a:rPr>
                <a:latin typeface="Courier"/>
              </a:rPr>
              <a:t>group-level summaries and comparative plots</a:t>
            </a:r>
            <a:r>
              <a:rPr/>
              <a:t> : describe how a variable behaves </a:t>
            </a:r>
            <a:r>
              <a:rPr b="1"/>
              <a:t>within user specified subgroups</a:t>
            </a:r>
            <a:r>
              <a:rPr/>
              <a:t> and then comparing those subgroup-specific descriptions across groups</a:t>
            </a:r>
          </a:p>
          <a:p>
            <a:pPr lvl="0" indent="0" marL="0">
              <a:buNone/>
            </a:pPr>
            <a:r>
              <a:rPr b="1"/>
              <a:t>General Applications</a:t>
            </a:r>
          </a:p>
          <a:p>
            <a:pPr lvl="0"/>
            <a:r>
              <a:rPr/>
              <a:t>treatment groups may differ in average biomarker level</a:t>
            </a:r>
          </a:p>
          <a:p>
            <a:pPr lvl="0"/>
            <a:r>
              <a:rPr/>
              <a:t>disease subtypes may differ in variability, not only in average level</a:t>
            </a:r>
          </a:p>
          <a:p>
            <a:pPr lvl="0"/>
            <a:r>
              <a:rPr/>
              <a:t>two groups may have similar means but very different internal distributions</a:t>
            </a:r>
          </a:p>
          <a:p>
            <a:pPr lvl="0"/>
            <a:r>
              <a:rPr/>
              <a:t>descriptive comparison is often the first step before any formal modeling or hypothesis testing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Group Comparisons: Background</a:t>
                </a:r>
              </a:p>
              <a:p>
                <a:pPr lvl="0"/>
                <a:r>
                  <a:rPr>
                    <a:latin typeface="Courier"/>
                  </a:rPr>
                  <a:t>summary tables</a:t>
                </a:r>
                <a:r>
                  <a:rPr/>
                  <a:t> : report either - median by group or means by group</a:t>
                </a:r>
              </a:p>
              <a:p>
                <a:pPr lvl="0"/>
                <a:r>
                  <a:rPr>
                    <a:latin typeface="Courier"/>
                  </a:rPr>
                  <a:t>mean</a:t>
                </a:r>
                <a:r>
                  <a:rPr/>
                  <a:t>: measure of central tendency defined as the sum of all observed values divided by the number of observations</a:t>
                </a:r>
              </a:p>
              <a:p>
                <a:pPr lvl="1"/>
                <a:r>
                  <a:rPr/>
                  <a:t>every value contributes to the mean therefore very high or very low observations can pull the mean upward or downward</a:t>
                </a:r>
              </a:p>
              <a:p>
                <a:pPr lvl="0"/>
                <a:r>
                  <a:rPr>
                    <a:latin typeface="Courier"/>
                  </a:rPr>
                  <a:t>median</a:t>
                </a:r>
                <a:r>
                  <a:rPr/>
                  <a:t> : measure of central tendency defined as the middle value of a set of ordered observations</a:t>
                </a:r>
              </a:p>
              <a:p>
                <a:pPr lvl="1"/>
                <a:r>
                  <a:rPr/>
                  <a:t>most informative when we want a measure of central location that is less sensitive to skewness or unusually large values</a:t>
                </a:r>
              </a:p>
              <a:p>
                <a:pPr lvl="1"/>
                <a:r>
                  <a:rPr/>
                  <a:t>right-skewed biomarkers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→</m:t>
                    </m:r>
                  </m:oMath>
                </a14:m>
                <a:r>
                  <a:rPr/>
                  <a:t> median often aligns more closely with the value observed for a typical observations [i.e.: patient]</a:t>
                </a:r>
              </a:p>
              <a:p>
                <a:pPr lvl="0"/>
                <a:r>
                  <a:rPr>
                    <a:latin typeface="Courier"/>
                  </a:rPr>
                  <a:t>median by group</a:t>
                </a:r>
                <a:r>
                  <a:rPr/>
                  <a:t>: subgroup-specific measure of central tendency defined as the middle value of the ordered observations within each group</a:t>
                </a:r>
              </a:p>
            </p:txBody>
          </p:sp>
        </mc:Choice>
      </mc:AlternateContent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Approach for Comparing Groups</a:t>
            </a:r>
          </a:p>
          <a:p>
            <a:pPr lvl="0" indent="0" marL="0">
              <a:buNone/>
            </a:pPr>
            <a:r>
              <a:rPr b="1"/>
              <a:t>Key things to ask when comparing groups</a:t>
            </a:r>
          </a:p>
          <a:p>
            <a:pPr lvl="0"/>
            <a:r>
              <a:rPr b="1"/>
              <a:t>sample size</a:t>
            </a:r>
            <a:r>
              <a:rPr/>
              <a:t>: are the groups similar in size, or are some summaries based on much smaller numbers of observations?</a:t>
            </a:r>
          </a:p>
          <a:p>
            <a:pPr lvl="0"/>
            <a:r>
              <a:rPr b="1"/>
              <a:t>location</a:t>
            </a:r>
            <a:r>
              <a:rPr/>
              <a:t>: do the means or medians differ across groups?</a:t>
            </a:r>
          </a:p>
          <a:p>
            <a:pPr lvl="0"/>
            <a:r>
              <a:rPr b="1"/>
              <a:t>spread</a:t>
            </a:r>
            <a:r>
              <a:rPr/>
              <a:t>: do the standard deviations or IQRs differ across groups?</a:t>
            </a:r>
          </a:p>
          <a:p>
            <a:pPr lvl="0"/>
            <a:r>
              <a:rPr b="1"/>
              <a:t>mean-median agreement</a:t>
            </a:r>
            <a:r>
              <a:rPr/>
              <a:t>: are the mean and median similar within groups, or do they diverge in ways that suggest skewness?</a:t>
            </a:r>
          </a:p>
          <a:p>
            <a:pPr lvl="0"/>
            <a:r>
              <a:rPr b="1"/>
              <a:t>clinical magnitude</a:t>
            </a:r>
            <a:r>
              <a:rPr/>
              <a:t>: are the observed differences large enough to matter scientifically, not only numerically?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Plots for comparing groups</a:t>
            </a:r>
          </a:p>
          <a:p>
            <a:pPr lvl="0" indent="0" marL="0">
              <a:buNone/>
            </a:pPr>
            <a:r>
              <a:rPr>
                <a:latin typeface="Courier"/>
              </a:rPr>
              <a:t>boxplot</a:t>
            </a:r>
            <a:r>
              <a:rPr/>
              <a:t> : graphical summary of a quantitative variable that represents the ordered structure of the data using key percentiles and tail behavior</a:t>
            </a:r>
          </a:p>
          <a:p>
            <a:pPr lvl="0" indent="0" marL="0">
              <a:buNone/>
            </a:pPr>
            <a:r>
              <a:rPr/>
              <a:t>Display the following:</a:t>
            </a:r>
          </a:p>
          <a:p>
            <a:pPr lvl="0"/>
            <a:r>
              <a:rPr/>
              <a:t>minimum (or lower whisker endpoint)</a:t>
            </a:r>
          </a:p>
          <a:p>
            <a:pPr lvl="0"/>
            <a:r>
              <a:rPr/>
              <a:t>first quartile (Q1 - 25th percentile)</a:t>
            </a:r>
          </a:p>
          <a:p>
            <a:pPr lvl="0"/>
            <a:r>
              <a:rPr/>
              <a:t>median (Q2 - 50th percentile)</a:t>
            </a:r>
          </a:p>
          <a:p>
            <a:pPr lvl="0"/>
            <a:r>
              <a:rPr/>
              <a:t>third quartile (Q3 - 75th percentile)</a:t>
            </a:r>
          </a:p>
          <a:p>
            <a:pPr lvl="0"/>
            <a:r>
              <a:rPr/>
              <a:t>maximum (or upper whisker endpoint)</a:t>
            </a:r>
          </a:p>
          <a:p>
            <a:pPr lvl="0" indent="0" marL="0">
              <a:buNone/>
            </a:pPr>
            <a:r>
              <a:rPr>
                <a:latin typeface="Courier"/>
              </a:rPr>
              <a:t>violin plot</a:t>
            </a:r>
            <a:r>
              <a:rPr/>
              <a:t>: graphical display of a quantitative variable that combines a smoothed estimate of the distribution (density) with key features of the data’s central tendency and spread</a:t>
            </a:r>
          </a:p>
          <a:p>
            <a:pPr lvl="0"/>
            <a:r>
              <a:rPr b="1"/>
              <a:t>width of the violin</a:t>
            </a:r>
            <a:r>
              <a:rPr/>
              <a:t> → proportional to the density of observations at a given value</a:t>
            </a:r>
          </a:p>
          <a:p>
            <a:pPr lvl="0"/>
            <a:r>
              <a:rPr b="1"/>
              <a:t>central tendency</a:t>
            </a:r>
            <a:r>
              <a:rPr/>
              <a:t> → location of the median within the distribution</a:t>
            </a:r>
          </a:p>
          <a:p>
            <a:pPr lvl="0"/>
            <a:r>
              <a:rPr b="1"/>
              <a:t>multimodality</a:t>
            </a:r>
            <a:r>
              <a:rPr/>
              <a:t> → presence of multiple peaks (subpopulations)</a:t>
            </a:r>
          </a:p>
          <a:p>
            <a:pPr lvl="0" indent="0" marL="0">
              <a:buNone/>
            </a:pPr>
            <a:r>
              <a:rPr b="1"/>
              <a:t>Considerations for plot-based comparison across groups</a:t>
            </a:r>
          </a:p>
          <a:p>
            <a:pPr lvl="0"/>
            <a:r>
              <a:rPr/>
              <a:t>is one group positioned higher or lower overall on the y-axis?</a:t>
            </a:r>
          </a:p>
          <a:p>
            <a:pPr lvl="0"/>
            <a:r>
              <a:rPr/>
              <a:t>do some groups show stronger skewness or longer tails?</a:t>
            </a:r>
          </a:p>
          <a:p>
            <a:pPr lvl="0"/>
            <a:r>
              <a:rPr/>
              <a:t>do any groups contain more extreme values?</a:t>
            </a:r>
          </a:p>
          <a:p>
            <a:pPr lvl="0"/>
            <a:r>
              <a:rPr/>
              <a:t>does the shape suggest internal subgroup structure or heterogeneity within a treatment arm?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Subgroup Heterogeneity</a:t>
            </a:r>
          </a:p>
          <a:p>
            <a:pPr lvl="0" indent="0" marL="0">
              <a:buNone/>
            </a:pPr>
            <a:r>
              <a:rPr b="1"/>
              <a:t>subgroup heterogeneity</a:t>
            </a:r>
            <a:r>
              <a:rPr/>
              <a:t> :</a:t>
            </a:r>
          </a:p>
          <a:p>
            <a:pPr lvl="0"/>
            <a:r>
              <a:rPr/>
              <a:t>observations within a group are not all tightly clustered around one common pattern</a:t>
            </a:r>
          </a:p>
          <a:p>
            <a:pPr lvl="0"/>
            <a:r>
              <a:rPr/>
              <a:t>presence of meaningful differences in the distribution, central tendency, variability, or relationships within distinct subgroups of a population</a:t>
            </a:r>
          </a:p>
          <a:p>
            <a:pPr lvl="0"/>
            <a:r>
              <a:rPr/>
              <a:t>descriptive statistics - subgroup heterogeneity may appear as:</a:t>
            </a:r>
          </a:p>
          <a:p>
            <a:pPr lvl="1"/>
            <a:r>
              <a:rPr/>
              <a:t>wide IQR</a:t>
            </a:r>
          </a:p>
          <a:p>
            <a:pPr lvl="1"/>
            <a:r>
              <a:rPr/>
              <a:t>large standard deviation</a:t>
            </a:r>
          </a:p>
          <a:p>
            <a:pPr lvl="1"/>
            <a:r>
              <a:rPr/>
              <a:t>long whiskers in a boxplot</a:t>
            </a:r>
          </a:p>
          <a:p>
            <a:pPr lvl="1"/>
            <a:r>
              <a:rPr/>
              <a:t>wide or irregular violin shape</a:t>
            </a:r>
          </a:p>
          <a:p>
            <a:pPr lvl="1"/>
            <a:r>
              <a:rPr/>
              <a:t>multiple peaks in a histogram or violin plot</a:t>
            </a:r>
          </a:p>
          <a:p>
            <a:pPr lvl="1"/>
            <a:r>
              <a:rPr/>
              <a:t>large differences between low and high observations within the same group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Study Context and Dataset Overview</a:t>
            </a:r>
          </a:p>
          <a:p>
            <a:pPr lvl="0" indent="0" marL="0">
              <a:buNone/>
            </a:pPr>
            <a:r>
              <a:rPr/>
              <a:t>Here we evaluate data from a randomized immunotherapy study designed to evaluate how treatment intensity influences both immune system activity and clinical outcomes</a:t>
            </a:r>
          </a:p>
          <a:p>
            <a:pPr lvl="0" indent="0" marL="0">
              <a:buNone/>
            </a:pPr>
            <a:r>
              <a:rPr b="1"/>
              <a:t>Research Question</a:t>
            </a:r>
          </a:p>
          <a:p>
            <a:pPr lvl="0" indent="0" marL="1270000">
              <a:buNone/>
            </a:pPr>
            <a:r>
              <a:rPr sz="2000"/>
              <a:t>How do we describe and compare distributions across groups in biomedical data?</a:t>
            </a:r>
          </a:p>
          <a:p>
            <a:pPr lvl="0" indent="0" marL="1270000">
              <a:buNone/>
            </a:pPr>
            <a:r>
              <a:rPr sz="2000"/>
              <a:t>How does the distribution differ by treatment or disease category?</a:t>
            </a:r>
          </a:p>
          <a:p>
            <a:pPr lvl="0" indent="0" marL="0">
              <a:buNone/>
            </a:pPr>
            <a:r>
              <a:rPr/>
              <a:t>Immunotherapy study follows patients in three arms:</a:t>
            </a:r>
          </a:p>
          <a:p>
            <a:pPr lvl="0"/>
            <a:r>
              <a:rPr/>
              <a:t>placebo</a:t>
            </a:r>
          </a:p>
          <a:p>
            <a:pPr lvl="0"/>
            <a:r>
              <a:rPr/>
              <a:t>low dose immunotherapy</a:t>
            </a:r>
          </a:p>
          <a:p>
            <a:pPr lvl="0"/>
            <a:r>
              <a:rPr/>
              <a:t>high dose immunotherapy</a:t>
            </a:r>
          </a:p>
          <a:p>
            <a:pPr lvl="0" indent="0" marL="0">
              <a:buNone/>
            </a:pPr>
            <a:r>
              <a:rPr/>
              <a:t>For each patient, the study records multiple outcomes that reflect different dimensions of response:</a:t>
            </a:r>
          </a:p>
          <a:p>
            <a:pPr lvl="0"/>
            <a:r>
              <a:rPr b="1"/>
              <a:t>interferon-gamma [IFN-γ] concentration</a:t>
            </a:r>
            <a:r>
              <a:rPr/>
              <a:t>: continuous biomarker of immune activation</a:t>
            </a:r>
          </a:p>
          <a:p>
            <a:pPr lvl="0"/>
            <a:r>
              <a:rPr b="1"/>
              <a:t>CD4+ T-cell count</a:t>
            </a:r>
            <a:r>
              <a:rPr/>
              <a:t>: continuous measure of immune system status</a:t>
            </a:r>
          </a:p>
          <a:p>
            <a:pPr lvl="0"/>
            <a:r>
              <a:rPr b="1"/>
              <a:t>clinical response class</a:t>
            </a:r>
            <a:r>
              <a:rPr/>
              <a:t> [i.e.: responder vs non-responder or ordinal response categories] : categorical outcome reflecting treatment efficacy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Simulated Immunotherapy Dataset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group_df </a:t>
            </a:r>
            <a:r>
              <a:rPr>
                <a:solidFill>
                  <a:srgbClr val="5E5E5E"/>
                </a:solidFill>
                <a:latin typeface="Courier"/>
              </a:rPr>
              <a:t>|&gt;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slice_head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8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8 × 5
  patient_id treatment  ifng cd4_count response_class
  &lt;chr&gt;      &lt;chr&gt;     &lt;dbl&gt;     &lt;dbl&gt; &lt;chr&gt;         
1 G001       High dose 24.6        818 Stable        
2 G002       High dose 17.6        655 Responder     
3 G003       Placebo   15.2        512 Stable        
4 G004       Low dose  12          703 Responder     
5 G005       Low dose  33.4        567 Progressive   
6 G006       High dose  7.78       751 Stable        
7 G007       Low dose   9.48       562 Responder     
8 G008       Low dose   8.92       631 Progressive   </a:t>
            </a:r>
          </a:p>
          <a:p>
            <a:pPr lvl="0" indent="0" marL="0">
              <a:buNone/>
            </a:pPr>
            <a:r>
              <a:rPr b="1"/>
              <a:t>Column descriptions</a:t>
            </a:r>
          </a:p>
          <a:p>
            <a:pPr lvl="0"/>
            <a:r>
              <a:rPr>
                <a:latin typeface="Courier"/>
              </a:rPr>
              <a:t>patient_id</a:t>
            </a:r>
            <a:r>
              <a:rPr/>
              <a:t>: unique identifier for each patient in the study</a:t>
            </a:r>
            <a:br/>
          </a:p>
          <a:p>
            <a:pPr lvl="0"/>
            <a:r>
              <a:rPr>
                <a:latin typeface="Courier"/>
              </a:rPr>
              <a:t>treatment</a:t>
            </a:r>
            <a:r>
              <a:rPr/>
              <a:t>: treatment arm assigned to the patient [</a:t>
            </a:r>
            <a:r>
              <a:rPr>
                <a:latin typeface="Courier"/>
              </a:rPr>
              <a:t>Placebo</a:t>
            </a:r>
            <a:r>
              <a:rPr/>
              <a:t>, </a:t>
            </a:r>
            <a:r>
              <a:rPr>
                <a:latin typeface="Courier"/>
              </a:rPr>
              <a:t>Low dose</a:t>
            </a:r>
            <a:r>
              <a:rPr/>
              <a:t>, </a:t>
            </a:r>
            <a:r>
              <a:rPr>
                <a:latin typeface="Courier"/>
              </a:rPr>
              <a:t>High dose</a:t>
            </a:r>
            <a:r>
              <a:rPr/>
              <a:t>]</a:t>
            </a:r>
          </a:p>
          <a:p>
            <a:pPr lvl="1"/>
            <a:r>
              <a:rPr/>
              <a:t>primary grouping variable used for comparisons across subgroups</a:t>
            </a:r>
            <a:br/>
          </a:p>
          <a:p>
            <a:pPr lvl="0"/>
            <a:r>
              <a:rPr>
                <a:latin typeface="Courier"/>
              </a:rPr>
              <a:t>ifng</a:t>
            </a:r>
            <a:r>
              <a:rPr/>
              <a:t>: interferon-gamma concentration, a continuous biomarker of immune activation measured for each patient</a:t>
            </a:r>
            <a:br/>
          </a:p>
          <a:p>
            <a:pPr lvl="0"/>
            <a:r>
              <a:rPr>
                <a:latin typeface="Courier"/>
              </a:rPr>
              <a:t>cd4_count</a:t>
            </a:r>
            <a:r>
              <a:rPr/>
              <a:t>: CD4 T-cell count - a continuous measure of immune system status for each patient</a:t>
            </a:r>
            <a:br/>
          </a:p>
          <a:p>
            <a:pPr lvl="0"/>
            <a:r>
              <a:rPr>
                <a:latin typeface="Courier"/>
              </a:rPr>
              <a:t>response_class</a:t>
            </a:r>
            <a:r>
              <a:rPr/>
              <a:t>: clinical response category for each patient [</a:t>
            </a:r>
            <a:r>
              <a:rPr>
                <a:latin typeface="Courier"/>
              </a:rPr>
              <a:t>Responder</a:t>
            </a:r>
            <a:r>
              <a:rPr/>
              <a:t>, </a:t>
            </a:r>
            <a:r>
              <a:rPr>
                <a:latin typeface="Courier"/>
              </a:rPr>
              <a:t>Stable</a:t>
            </a:r>
            <a:r>
              <a:rPr/>
              <a:t>, </a:t>
            </a:r>
            <a:r>
              <a:rPr>
                <a:latin typeface="Courier"/>
              </a:rPr>
              <a:t>Progressive</a:t>
            </a:r>
            <a:r>
              <a:rPr/>
              <a:t>]</a:t>
            </a:r>
          </a:p>
          <a:p>
            <a:pPr lvl="1"/>
            <a:r>
              <a:rPr/>
              <a:t>categorical outcome describing treatment response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IFN-gamma: Mean by Treatment Group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group_df </a:t>
            </a:r>
            <a:r>
              <a:rPr>
                <a:solidFill>
                  <a:srgbClr val="5E5E5E"/>
                </a:solidFill>
                <a:latin typeface="Courier"/>
              </a:rPr>
              <a:t>|&gt;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group_by</a:t>
            </a:r>
            <a:r>
              <a:rPr>
                <a:solidFill>
                  <a:srgbClr val="003B4F"/>
                </a:solidFill>
                <a:latin typeface="Courier"/>
              </a:rPr>
              <a:t>(treatment) </a:t>
            </a:r>
            <a:r>
              <a:rPr>
                <a:solidFill>
                  <a:srgbClr val="5E5E5E"/>
                </a:solidFill>
                <a:latin typeface="Courier"/>
              </a:rPr>
              <a:t>|&gt;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summarise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n</a:t>
            </a:r>
            <a:r>
              <a:rPr>
                <a:solidFill>
                  <a:srgbClr val="003B4F"/>
                </a:solidFill>
                <a:latin typeface="Courier"/>
              </a:rPr>
              <a:t>(),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mean_ifng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mean</a:t>
            </a:r>
            <a:r>
              <a:rPr>
                <a:solidFill>
                  <a:srgbClr val="003B4F"/>
                </a:solidFill>
                <a:latin typeface="Courier"/>
              </a:rPr>
              <a:t>(ifng),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sd_ifng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sd</a:t>
            </a:r>
            <a:r>
              <a:rPr>
                <a:solidFill>
                  <a:srgbClr val="003B4F"/>
                </a:solidFill>
                <a:latin typeface="Courier"/>
              </a:rPr>
              <a:t>(ifng)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3 × 4
  treatment     n mean_ifng sd_ifng
  &lt;chr&gt;     &lt;int&gt;     &lt;dbl&gt;   &lt;dbl&gt;
1 High dose    67      20.7    8.22
2 Low dose     79      16.4    7.65
3 Placebo      64      12.6    7.04</a:t>
            </a:r>
          </a:p>
          <a:p>
            <a:pPr lvl="0"/>
            <a:r>
              <a:rPr>
                <a:latin typeface="Courier"/>
              </a:rPr>
              <a:t>mean</a:t>
            </a:r>
            <a:r>
              <a:rPr/>
              <a:t>: summarizes the average level within each treatment arm</a:t>
            </a:r>
          </a:p>
          <a:p>
            <a:pPr lvl="0"/>
            <a:r>
              <a:rPr>
                <a:latin typeface="Courier"/>
              </a:rPr>
              <a:t>standard deviation</a:t>
            </a:r>
            <a:r>
              <a:rPr/>
              <a:t>: shows variability among participants in the same arm</a:t>
            </a:r>
          </a:p>
          <a:p>
            <a:pPr lvl="0" indent="0" marL="0">
              <a:buNone/>
            </a:pPr>
            <a:r>
              <a:rPr b="1"/>
              <a:t>Interpretation</a:t>
            </a:r>
          </a:p>
          <a:p>
            <a:pPr lvl="0"/>
            <a:r>
              <a:rPr>
                <a:latin typeface="Courier"/>
              </a:rPr>
              <a:t>n</a:t>
            </a:r>
            <a:r>
              <a:rPr/>
              <a:t> : number of patients that contribute to each treatment-specific summary</a:t>
            </a:r>
          </a:p>
          <a:p>
            <a:pPr lvl="0"/>
            <a:r>
              <a:rPr>
                <a:latin typeface="Courier"/>
              </a:rPr>
              <a:t>mean_ifng</a:t>
            </a:r>
            <a:r>
              <a:rPr/>
              <a:t>: compares average IFN-gamma across arms and essentially comparing group </a:t>
            </a:r>
            <a:r>
              <a:rPr b="1"/>
              <a:t>location</a:t>
            </a:r>
          </a:p>
          <a:p>
            <a:pPr lvl="0"/>
            <a:r>
              <a:rPr>
                <a:latin typeface="Courier"/>
              </a:rPr>
              <a:t>sd_ifng</a:t>
            </a:r>
            <a:r>
              <a:rPr/>
              <a:t> compares within-group variability and therefore compares group </a:t>
            </a:r>
            <a:r>
              <a:rPr b="1"/>
              <a:t>spread</a:t>
            </a:r>
          </a:p>
          <a:p>
            <a:pPr lvl="0"/>
            <a:r>
              <a:rPr/>
              <a:t>If the high-dose arm has the largest mean, that suggests a higher central level of IFN-gamma in that group</a:t>
            </a:r>
          </a:p>
          <a:p>
            <a:pPr lvl="0"/>
            <a:r>
              <a:rPr/>
              <a:t>If one arm has a larger standard deviation, that suggests greater patient-to-patient heterogeneity within that treatment condition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IFN-gamma: Mean by Treatment Group</a:t>
                </a:r>
              </a:p>
              <a:p>
                <a:pPr lvl="0" indent="0">
                  <a:buNone/>
                </a:pPr>
                <a:r>
                  <a:rPr>
                    <a:solidFill>
                      <a:srgbClr val="003B4F"/>
                    </a:solidFill>
                    <a:latin typeface="Courier"/>
                  </a:rPr>
                  <a:t>group_df </a:t>
                </a:r>
                <a:r>
                  <a:rPr>
                    <a:solidFill>
                      <a:srgbClr val="5E5E5E"/>
                    </a:solidFill>
                    <a:latin typeface="Courier"/>
                  </a:rPr>
                  <a:t>|&gt;</a:t>
                </a:r>
                <a:br/>
                <a:r>
                  <a:rPr>
                    <a:solidFill>
                      <a:srgbClr val="003B4F"/>
                    </a:solidFill>
                    <a:latin typeface="Courier"/>
                  </a:rPr>
                  <a:t>  </a:t>
                </a:r>
                <a:r>
                  <a:rPr>
                    <a:solidFill>
                      <a:srgbClr val="4758AB"/>
                    </a:solidFill>
                    <a:latin typeface="Courier"/>
                  </a:rPr>
                  <a:t>group_by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(treatment) </a:t>
                </a:r>
                <a:r>
                  <a:rPr>
                    <a:solidFill>
                      <a:srgbClr val="5E5E5E"/>
                    </a:solidFill>
                    <a:latin typeface="Courier"/>
                  </a:rPr>
                  <a:t>|&gt;</a:t>
                </a:r>
                <a:br/>
                <a:r>
                  <a:rPr>
                    <a:solidFill>
                      <a:srgbClr val="003B4F"/>
                    </a:solidFill>
                    <a:latin typeface="Courier"/>
                  </a:rPr>
                  <a:t>  </a:t>
                </a:r>
                <a:r>
                  <a:rPr>
                    <a:solidFill>
                      <a:srgbClr val="4758AB"/>
                    </a:solidFill>
                    <a:latin typeface="Courier"/>
                  </a:rPr>
                  <a:t>summarise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(</a:t>
                </a:r>
                <a:br/>
                <a:r>
                  <a:rPr>
                    <a:solidFill>
                      <a:srgbClr val="003B4F"/>
                    </a:solidFill>
                    <a:latin typeface="Courier"/>
                  </a:rPr>
                  <a:t>    </a:t>
                </a:r>
                <a:r>
                  <a:rPr>
                    <a:solidFill>
                      <a:srgbClr val="657422"/>
                    </a:solidFill>
                    <a:latin typeface="Courier"/>
                  </a:rPr>
                  <a:t>n =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 </a:t>
                </a:r>
                <a:r>
                  <a:rPr>
                    <a:solidFill>
                      <a:srgbClr val="4758AB"/>
                    </a:solidFill>
                    <a:latin typeface="Courier"/>
                  </a:rPr>
                  <a:t>n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(),</a:t>
                </a:r>
                <a:br/>
                <a:r>
                  <a:rPr>
                    <a:solidFill>
                      <a:srgbClr val="003B4F"/>
                    </a:solidFill>
                    <a:latin typeface="Courier"/>
                  </a:rPr>
                  <a:t>    </a:t>
                </a:r>
                <a:r>
                  <a:rPr>
                    <a:solidFill>
                      <a:srgbClr val="657422"/>
                    </a:solidFill>
                    <a:latin typeface="Courier"/>
                  </a:rPr>
                  <a:t>mean_ifng =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 </a:t>
                </a:r>
                <a:r>
                  <a:rPr>
                    <a:solidFill>
                      <a:srgbClr val="4758AB"/>
                    </a:solidFill>
                    <a:latin typeface="Courier"/>
                  </a:rPr>
                  <a:t>mean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(ifng),</a:t>
                </a:r>
                <a:br/>
                <a:r>
                  <a:rPr>
                    <a:solidFill>
                      <a:srgbClr val="003B4F"/>
                    </a:solidFill>
                    <a:latin typeface="Courier"/>
                  </a:rPr>
                  <a:t>    </a:t>
                </a:r>
                <a:r>
                  <a:rPr>
                    <a:solidFill>
                      <a:srgbClr val="657422"/>
                    </a:solidFill>
                    <a:latin typeface="Courier"/>
                  </a:rPr>
                  <a:t>sd_ifng =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 </a:t>
                </a:r>
                <a:r>
                  <a:rPr>
                    <a:solidFill>
                      <a:srgbClr val="4758AB"/>
                    </a:solidFill>
                    <a:latin typeface="Courier"/>
                  </a:rPr>
                  <a:t>sd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(ifng)</a:t>
                </a:r>
                <a:br/>
                <a:r>
                  <a:rPr>
                    <a:solidFill>
                      <a:srgbClr val="003B4F"/>
                    </a:solidFill>
                    <a:latin typeface="Courier"/>
                  </a:rPr>
                  <a:t>  )</a:t>
                </a:r>
              </a:p>
              <a:p>
                <a:pPr lvl="0" indent="0">
                  <a:buNone/>
                </a:pPr>
                <a:r>
                  <a:rPr>
                    <a:latin typeface="Courier"/>
                  </a:rPr>
                  <a:t># A tibble: 3 × 4
  treatment     n mean_ifng sd_ifng
  &lt;chr&gt;     &lt;int&gt;     &lt;dbl&gt;   &lt;dbl&gt;
1 High dose    67      20.7    8.22
2 Low dose     79      16.4    7.65
3 Placebo      64      12.6    7.04</a:t>
                </a:r>
              </a:p>
              <a:p>
                <a:pPr lvl="0" indent="0" marL="0">
                  <a:buNone/>
                </a:pPr>
                <a:r>
                  <a:rPr b="1"/>
                  <a:t>Interpretation</a:t>
                </a:r>
              </a:p>
              <a:p>
                <a:pPr lvl="0"/>
                <a:r>
                  <a:rPr>
                    <a:latin typeface="Courier"/>
                  </a:rPr>
                  <a:t>treatment</a:t>
                </a:r>
                <a:r>
                  <a:rPr/>
                  <a:t>: treatment arm defining each subgroup (</a:t>
                </a:r>
                <a:r>
                  <a:rPr>
                    <a:latin typeface="Courier"/>
                  </a:rPr>
                  <a:t>Placebo</a:t>
                </a:r>
                <a:r>
                  <a:rPr/>
                  <a:t>, </a:t>
                </a:r>
                <a:r>
                  <a:rPr>
                    <a:latin typeface="Courier"/>
                  </a:rPr>
                  <a:t>Low dose</a:t>
                </a:r>
                <a:r>
                  <a:rPr/>
                  <a:t>, </a:t>
                </a:r>
                <a:r>
                  <a:rPr>
                    <a:latin typeface="Courier"/>
                  </a:rPr>
                  <a:t>High dose</a:t>
                </a:r>
                <a:r>
                  <a:rPr/>
                  <a:t>)</a:t>
                </a:r>
                <a:br/>
              </a:p>
              <a:p>
                <a:pPr lvl="0"/>
                <a:r>
                  <a:rPr>
                    <a:latin typeface="Courier"/>
                  </a:rPr>
                  <a:t>n</a:t>
                </a:r>
                <a:r>
                  <a:rPr/>
                  <a:t>: number of patients within each treatment group (sample size for the subgroup)</a:t>
                </a:r>
                <a:br/>
              </a:p>
              <a:p>
                <a:pPr lvl="0"/>
                <a:r>
                  <a:rPr>
                    <a:latin typeface="Courier"/>
                  </a:rPr>
                  <a:t>mean_ifng</a:t>
                </a:r>
                <a:r>
                  <a:rPr/>
                  <a:t>: average IFN-gamma concentration within the group</a:t>
                </a:r>
                <a:br/>
              </a:p>
              <a:p>
                <a:pPr lvl="0"/>
                <a:r>
                  <a:rPr>
                    <a:latin typeface="Courier"/>
                  </a:rPr>
                  <a:t>sd_ifng</a:t>
                </a:r>
                <a:r>
                  <a:rPr/>
                  <a:t>: standard deviation of IFN-gamma within the group, quantifying variability around the mean</a:t>
                </a:r>
              </a:p>
              <a:p>
                <a:pPr lvl="0"/>
                <a:r>
                  <a:rPr/>
                  <a:t>IFN-gamma levels increase across treatment intensity:</a:t>
                </a:r>
              </a:p>
              <a:p>
                <a:pPr lvl="1"/>
                <a:r>
                  <a:rPr/>
                  <a:t>Placebo ≈ 12.6 pg/mL</a:t>
                </a:r>
                <a:br/>
              </a:p>
              <a:p>
                <a:pPr lvl="1"/>
                <a:r>
                  <a:rPr/>
                  <a:t>Low dose ≈ 16.4 pg/mL</a:t>
                </a:r>
                <a:br/>
              </a:p>
              <a:p>
                <a:pPr lvl="1"/>
                <a:r>
                  <a:rPr/>
                  <a:t>High dose ≈ 20.7 pg/mL</a:t>
                </a:r>
              </a:p>
              <a:p>
                <a:pPr lvl="0"/>
                <a:r>
                  <a:rPr/>
                  <a:t>variability is present in all groups [SD ≈ 7–8]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→</m:t>
                    </m:r>
                  </m:oMath>
                </a14:m>
                <a:r>
                  <a:rPr/>
                  <a:t> indicating spread around the mean within each treatment arm</a:t>
                </a:r>
              </a:p>
              <a:p>
                <a:pPr lvl="0"/>
                <a:r>
                  <a:rPr/>
                  <a:t>data suggest that IFN-gamma is right-skewed therefore the mean may be influenced by higher values</a:t>
                </a:r>
                <a:br/>
              </a:p>
              <a:p>
                <a:pPr lvl="0"/>
                <a:r>
                  <a:rPr/>
                  <a:t>motivates comparing </a:t>
                </a:r>
                <a:r>
                  <a:rPr b="1"/>
                  <a:t>median and IQR</a:t>
                </a:r>
                <a:r>
                  <a:rPr/>
                  <a:t> as an additional summary of central tendency and spread</a:t>
                </a:r>
              </a:p>
            </p:txBody>
          </p:sp>
        </mc:Choice>
      </mc:AlternateContent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IFN-gamma: Median and IQR by Treatment Group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group_df </a:t>
            </a:r>
            <a:r>
              <a:rPr>
                <a:solidFill>
                  <a:srgbClr val="5E5E5E"/>
                </a:solidFill>
                <a:latin typeface="Courier"/>
              </a:rPr>
              <a:t>|&gt;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group_by</a:t>
            </a:r>
            <a:r>
              <a:rPr>
                <a:solidFill>
                  <a:srgbClr val="003B4F"/>
                </a:solidFill>
                <a:latin typeface="Courier"/>
              </a:rPr>
              <a:t>(treatment) </a:t>
            </a:r>
            <a:r>
              <a:rPr>
                <a:solidFill>
                  <a:srgbClr val="5E5E5E"/>
                </a:solidFill>
                <a:latin typeface="Courier"/>
              </a:rPr>
              <a:t>|&gt;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summarise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median_ifng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median</a:t>
            </a:r>
            <a:r>
              <a:rPr>
                <a:solidFill>
                  <a:srgbClr val="003B4F"/>
                </a:solidFill>
                <a:latin typeface="Courier"/>
              </a:rPr>
              <a:t>(ifng),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iqr_ifng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IQR</a:t>
            </a:r>
            <a:r>
              <a:rPr>
                <a:solidFill>
                  <a:srgbClr val="003B4F"/>
                </a:solidFill>
                <a:latin typeface="Courier"/>
              </a:rPr>
              <a:t>(ifng),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median_cd4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median</a:t>
            </a:r>
            <a:r>
              <a:rPr>
                <a:solidFill>
                  <a:srgbClr val="003B4F"/>
                </a:solidFill>
                <a:latin typeface="Courier"/>
              </a:rPr>
              <a:t>(cd4_count),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iqr_cd4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IQR</a:t>
            </a:r>
            <a:r>
              <a:rPr>
                <a:solidFill>
                  <a:srgbClr val="003B4F"/>
                </a:solidFill>
                <a:latin typeface="Courier"/>
              </a:rPr>
              <a:t>(cd4_count)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3 × 5
  treatment median_ifng iqr_ifng median_cd4 iqr_cd4
  &lt;chr&gt;           &lt;dbl&gt;    &lt;dbl&gt;      &lt;dbl&gt;   &lt;dbl&gt;
1 High dose        19.1     9.07       647     158.
2 Low dose         14.9     8.82       567     118.
3 Placebo          11.4     6.68       538.    118.</a:t>
            </a:r>
          </a:p>
          <a:p>
            <a:pPr lvl="0" indent="0" marL="0">
              <a:buNone/>
            </a:pPr>
            <a:r>
              <a:rPr b="1"/>
              <a:t>Interpretation</a:t>
            </a:r>
          </a:p>
          <a:p>
            <a:pPr lvl="0"/>
            <a:r>
              <a:rPr>
                <a:latin typeface="Courier"/>
              </a:rPr>
              <a:t>treatment</a:t>
            </a:r>
            <a:r>
              <a:rPr/>
              <a:t>: treatment arm defining each subgroup</a:t>
            </a:r>
            <a:br/>
          </a:p>
          <a:p>
            <a:pPr lvl="0"/>
            <a:r>
              <a:rPr>
                <a:latin typeface="Courier"/>
              </a:rPr>
              <a:t>median_ifng</a:t>
            </a:r>
            <a:r>
              <a:rPr/>
              <a:t>: middle IFN-gamma value within each group</a:t>
            </a:r>
          </a:p>
          <a:p>
            <a:pPr lvl="0"/>
            <a:r>
              <a:rPr>
                <a:latin typeface="Courier"/>
              </a:rPr>
              <a:t>iqr_ifng</a:t>
            </a:r>
            <a:r>
              <a:rPr/>
              <a:t>: spread of the middle 50% of IFN-gamma values within each group</a:t>
            </a:r>
            <a:br/>
          </a:p>
          <a:p>
            <a:pPr lvl="0"/>
            <a:r>
              <a:rPr>
                <a:latin typeface="Courier"/>
              </a:rPr>
              <a:t>median_cd4</a:t>
            </a:r>
            <a:r>
              <a:rPr/>
              <a:t>: middle CD4 count within each group</a:t>
            </a:r>
            <a:br/>
          </a:p>
          <a:p>
            <a:pPr lvl="0"/>
            <a:r>
              <a:rPr>
                <a:latin typeface="Courier"/>
              </a:rPr>
              <a:t>iqr_cd4</a:t>
            </a:r>
            <a:r>
              <a:rPr/>
              <a:t>: spread of the middle 50% of CD4 values within each group - </a:t>
            </a:r>
            <a:r>
              <a:rPr>
                <a:latin typeface="Courier"/>
              </a:rPr>
              <a:t>IFN-gamma and CD4</a:t>
            </a:r>
            <a:r>
              <a:rPr/>
              <a:t>: show increasing central tendency across treatment groups**</a:t>
            </a:r>
            <a:br/>
          </a:p>
          <a:p>
            <a:pPr lvl="0"/>
            <a:r>
              <a:rPr>
                <a:latin typeface="Courier"/>
              </a:rPr>
              <a:t>IFN-gamma</a:t>
            </a:r>
            <a:r>
              <a:rPr/>
              <a:t> : shows increasing variability - consistent with a right-skewed biomarker</a:t>
            </a:r>
            <a:br/>
          </a:p>
          <a:p>
            <a:pPr lvl="0"/>
            <a:r>
              <a:rPr>
                <a:latin typeface="Courier"/>
              </a:rPr>
              <a:t>median and IQR</a:t>
            </a:r>
            <a:r>
              <a:rPr/>
              <a:t>: describe how the central bulk of the distribution shifts and spreads across groups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IFN-gamma: Median and IQR by Treatment Group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group_df </a:t>
            </a:r>
            <a:r>
              <a:rPr>
                <a:solidFill>
                  <a:srgbClr val="5E5E5E"/>
                </a:solidFill>
                <a:latin typeface="Courier"/>
              </a:rPr>
              <a:t>|&gt;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group_by</a:t>
            </a:r>
            <a:r>
              <a:rPr>
                <a:solidFill>
                  <a:srgbClr val="003B4F"/>
                </a:solidFill>
                <a:latin typeface="Courier"/>
              </a:rPr>
              <a:t>(treatment) </a:t>
            </a:r>
            <a:r>
              <a:rPr>
                <a:solidFill>
                  <a:srgbClr val="5E5E5E"/>
                </a:solidFill>
                <a:latin typeface="Courier"/>
              </a:rPr>
              <a:t>|&gt;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summarise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median_ifng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median</a:t>
            </a:r>
            <a:r>
              <a:rPr>
                <a:solidFill>
                  <a:srgbClr val="003B4F"/>
                </a:solidFill>
                <a:latin typeface="Courier"/>
              </a:rPr>
              <a:t>(ifng),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iqr_ifng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IQR</a:t>
            </a:r>
            <a:r>
              <a:rPr>
                <a:solidFill>
                  <a:srgbClr val="003B4F"/>
                </a:solidFill>
                <a:latin typeface="Courier"/>
              </a:rPr>
              <a:t>(ifng),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median_cd4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median</a:t>
            </a:r>
            <a:r>
              <a:rPr>
                <a:solidFill>
                  <a:srgbClr val="003B4F"/>
                </a:solidFill>
                <a:latin typeface="Courier"/>
              </a:rPr>
              <a:t>(cd4_count),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iqr_cd4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IQR</a:t>
            </a:r>
            <a:r>
              <a:rPr>
                <a:solidFill>
                  <a:srgbClr val="003B4F"/>
                </a:solidFill>
                <a:latin typeface="Courier"/>
              </a:rPr>
              <a:t>(cd4_count)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3 × 5
  treatment median_ifng iqr_ifng median_cd4 iqr_cd4
  &lt;chr&gt;           &lt;dbl&gt;    &lt;dbl&gt;      &lt;dbl&gt;   &lt;dbl&gt;
1 High dose        19.1     9.07       647     158.
2 Low dose         14.9     8.82       567     118.
3 Placebo          11.4     6.68       538.    118.</a:t>
            </a:r>
          </a:p>
          <a:p>
            <a:pPr lvl="0" indent="0" marL="0">
              <a:buNone/>
            </a:pPr>
            <a:r>
              <a:rPr b="1"/>
              <a:t>Interpretation</a:t>
            </a:r>
          </a:p>
          <a:p>
            <a:pPr lvl="0"/>
            <a:r>
              <a:rPr/>
              <a:t>Median and IQR show that both biomarker levels and their central spread increase with treatment intensity, with IFN-gamma exhibiting greater variability at higher doses</a:t>
            </a:r>
          </a:p>
          <a:p>
            <a:pPr lvl="0" indent="0" marL="0">
              <a:buNone/>
            </a:pPr>
            <a:r>
              <a:rPr b="1"/>
              <a:t>IFN-gamma median increases with treatment intensity</a:t>
            </a:r>
            <a:r>
              <a:rPr/>
              <a:t>: shift in the typical biomarker level across groups</a:t>
            </a:r>
          </a:p>
          <a:p>
            <a:pPr lvl="0"/>
            <a:r>
              <a:rPr/>
              <a:t>Placebo ≈ 11.4 pg/mL</a:t>
            </a:r>
            <a:br/>
          </a:p>
          <a:p>
            <a:pPr lvl="0"/>
            <a:r>
              <a:rPr/>
              <a:t>Low dose ≈ 14.9 pg/mL</a:t>
            </a:r>
            <a:br/>
          </a:p>
          <a:p>
            <a:pPr lvl="0"/>
            <a:r>
              <a:rPr/>
              <a:t>High dose ≈ 19.1 pg/mL</a:t>
            </a:r>
          </a:p>
          <a:p>
            <a:pPr lvl="0" indent="0" marL="0">
              <a:buNone/>
            </a:pPr>
            <a:r>
              <a:rPr b="1"/>
              <a:t>IQR for IFN-gamma</a:t>
            </a:r>
            <a:r>
              <a:rPr/>
              <a:t>: greater spread in the central distribution at higher treatment levels</a:t>
            </a:r>
            <a:br/>
            <a:r>
              <a:rPr/>
              <a:t>- Placebo ≈ 6.68</a:t>
            </a:r>
            <a:br/>
            <a:r>
              <a:rPr/>
              <a:t>- Low dose ≈ 8.82</a:t>
            </a:r>
            <a:br/>
            <a:r>
              <a:rPr/>
              <a:t>- High dose ≈ 9.07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IFN-gamma: Median and IQR by Treatment Group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group_df </a:t>
            </a:r>
            <a:r>
              <a:rPr>
                <a:solidFill>
                  <a:srgbClr val="5E5E5E"/>
                </a:solidFill>
                <a:latin typeface="Courier"/>
              </a:rPr>
              <a:t>|&gt;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group_by</a:t>
            </a:r>
            <a:r>
              <a:rPr>
                <a:solidFill>
                  <a:srgbClr val="003B4F"/>
                </a:solidFill>
                <a:latin typeface="Courier"/>
              </a:rPr>
              <a:t>(treatment) </a:t>
            </a:r>
            <a:r>
              <a:rPr>
                <a:solidFill>
                  <a:srgbClr val="5E5E5E"/>
                </a:solidFill>
                <a:latin typeface="Courier"/>
              </a:rPr>
              <a:t>|&gt;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summarise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median_ifng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median</a:t>
            </a:r>
            <a:r>
              <a:rPr>
                <a:solidFill>
                  <a:srgbClr val="003B4F"/>
                </a:solidFill>
                <a:latin typeface="Courier"/>
              </a:rPr>
              <a:t>(ifng),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iqr_ifng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IQR</a:t>
            </a:r>
            <a:r>
              <a:rPr>
                <a:solidFill>
                  <a:srgbClr val="003B4F"/>
                </a:solidFill>
                <a:latin typeface="Courier"/>
              </a:rPr>
              <a:t>(ifng),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median_cd4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median</a:t>
            </a:r>
            <a:r>
              <a:rPr>
                <a:solidFill>
                  <a:srgbClr val="003B4F"/>
                </a:solidFill>
                <a:latin typeface="Courier"/>
              </a:rPr>
              <a:t>(cd4_count),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iqr_cd4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IQR</a:t>
            </a:r>
            <a:r>
              <a:rPr>
                <a:solidFill>
                  <a:srgbClr val="003B4F"/>
                </a:solidFill>
                <a:latin typeface="Courier"/>
              </a:rPr>
              <a:t>(cd4_count)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3 × 5
  treatment median_ifng iqr_ifng median_cd4 iqr_cd4
  &lt;chr&gt;           &lt;dbl&gt;    &lt;dbl&gt;      &lt;dbl&gt;   &lt;dbl&gt;
1 High dose        19.1     9.07       647     158.
2 Low dose         14.9     8.82       567     118.
3 Placebo          11.4     6.68       538.    118.</a:t>
            </a:r>
          </a:p>
          <a:p>
            <a:pPr lvl="0" indent="0" marL="0">
              <a:buNone/>
            </a:pPr>
            <a:r>
              <a:rPr b="1"/>
              <a:t>Interpretation</a:t>
            </a:r>
          </a:p>
          <a:p>
            <a:pPr lvl="0" indent="0" marL="0">
              <a:buNone/>
            </a:pPr>
            <a:r>
              <a:rPr b="1"/>
              <a:t>CD4 median also increases across treatment</a:t>
            </a:r>
            <a:r>
              <a:rPr/>
              <a:t>: higher typical immune cell counts with increased treatment intensity</a:t>
            </a:r>
          </a:p>
          <a:p>
            <a:pPr lvl="0"/>
            <a:r>
              <a:rPr/>
              <a:t>Placebo ≈ 538</a:t>
            </a:r>
            <a:br/>
          </a:p>
          <a:p>
            <a:pPr lvl="0"/>
            <a:r>
              <a:rPr/>
              <a:t>Low dose ≈ 567</a:t>
            </a:r>
            <a:br/>
          </a:p>
          <a:p>
            <a:pPr lvl="0"/>
            <a:r>
              <a:rPr/>
              <a:t>High dose ≈ 647</a:t>
            </a:r>
          </a:p>
          <a:p>
            <a:pPr lvl="0" indent="0" marL="0">
              <a:buNone/>
            </a:pPr>
            <a:r>
              <a:rPr b="1"/>
              <a:t>CD4 IQR</a:t>
            </a:r>
            <a:r>
              <a:rPr/>
              <a:t> : variability is similar for placebo and low dose, but more spread in the high dose group</a:t>
            </a:r>
          </a:p>
          <a:p>
            <a:pPr lvl="0"/>
            <a:r>
              <a:rPr/>
              <a:t>Placebo ≈ 118</a:t>
            </a:r>
            <a:br/>
          </a:p>
          <a:p>
            <a:pPr lvl="0"/>
            <a:r>
              <a:rPr/>
              <a:t>Low dose ≈ 118</a:t>
            </a:r>
            <a:br/>
          </a:p>
          <a:p>
            <a:pPr lvl="0"/>
            <a:r>
              <a:rPr/>
              <a:t>High dose ≈ 158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IFN-gamma: group comparisons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Interpretation</a:t>
            </a:r>
          </a:p>
          <a:p>
            <a:pPr lvl="0"/>
            <a:r>
              <a:rPr/>
              <a:t>plot shows a dose-dependent increase in immune response with moderate variability across patients</a:t>
            </a:r>
          </a:p>
          <a:p>
            <a:pPr lvl="0"/>
            <a:r>
              <a:rPr/>
              <a:t>median IFN-gamma increases from ~11.4 [placebo] to ~14.9 [low dose] to ~19.1 pg/mL [high dose]</a:t>
            </a:r>
          </a:p>
          <a:p>
            <a:pPr lvl="0" indent="0" marL="0">
              <a:buNone/>
            </a:pPr>
            <a:r>
              <a:rPr/>
              <a:t>Median Comparison:</a:t>
            </a:r>
          </a:p>
          <a:p>
            <a:pPr lvl="0"/>
            <a:r>
              <a:rPr/>
              <a:t>high dose: median ≈ 19.1 pg/mL</a:t>
            </a:r>
          </a:p>
          <a:p>
            <a:pPr lvl="0"/>
            <a:r>
              <a:rPr/>
              <a:t>low dose: median ≈ 14.9 pg/mL</a:t>
            </a:r>
          </a:p>
          <a:p>
            <a:pPr lvl="0"/>
            <a:r>
              <a:rPr/>
              <a:t>placebo: median ≈ 11.4 pg/mL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IFN-gamma: group comparisons</a:t>
                </a:r>
              </a:p>
              <a:p>
                <a:pPr lvl="0" indent="0" marL="0">
                  <a:buNone/>
                </a:pPr>
              </a:p>
              <a:p>
                <a:pPr lvl="0" indent="0" marL="0">
                  <a:buNone/>
                </a:pPr>
                <a:r>
                  <a:rPr b="1"/>
                  <a:t>Interpretation</a:t>
                </a:r>
              </a:p>
              <a:p>
                <a:pPr lvl="0" indent="0" marL="0">
                  <a:buNone/>
                </a:pPr>
                <a:r>
                  <a:rPr/>
                  <a:t>IQR Comparison:</a:t>
                </a:r>
              </a:p>
              <a:p>
                <a:pPr lvl="0"/>
                <a:r>
                  <a:rPr/>
                  <a:t>high dose group has the widest central spread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→</m:t>
                    </m:r>
                  </m:oMath>
                </a14:m>
                <a:r>
                  <a:rPr/>
                  <a:t> more variability in response across</a:t>
                </a:r>
                <a:br/>
              </a:p>
              <a:p>
                <a:pPr lvl="0"/>
                <a:r>
                  <a:rPr/>
                  <a:t>consistent IFN-gamma levels across the placebo group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→</m:t>
                    </m:r>
                  </m:oMath>
                </a14:m>
                <a:r>
                  <a:rPr/>
                  <a:t> more tightly clustered IQR</a:t>
                </a:r>
              </a:p>
              <a:p>
                <a:pPr lvl="0"/>
                <a:r>
                  <a:rPr/>
                  <a:t>high dose: IQR ≈ 9.07 pg/mL</a:t>
                </a:r>
              </a:p>
              <a:p>
                <a:pPr lvl="0"/>
                <a:r>
                  <a:rPr/>
                  <a:t>low dose: IQR ≈ 8.82 pg/mL</a:t>
                </a:r>
              </a:p>
              <a:p>
                <a:pPr lvl="0"/>
                <a:r>
                  <a:rPr/>
                  <a:t>placebo: IQR ≈ 6.68 pg/mL</a:t>
                </a:r>
              </a:p>
            </p:txBody>
          </p:sp>
        </mc:Choice>
      </mc:AlternateContent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IFN-gamma: group comparisons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Interpretation</a:t>
            </a:r>
          </a:p>
          <a:p>
            <a:pPr lvl="0" indent="0" marL="0">
              <a:buNone/>
            </a:pPr>
            <a:r>
              <a:rPr/>
              <a:t>Tails and outliers:</a:t>
            </a:r>
          </a:p>
          <a:p>
            <a:pPr lvl="0"/>
            <a:r>
              <a:rPr/>
              <a:t>all groups have higher values extending into the upper tail regions</a:t>
            </a:r>
          </a:p>
          <a:p>
            <a:pPr lvl="0"/>
            <a:r>
              <a:rPr/>
              <a:t>high dose outliers: ~38–43 pg/mL</a:t>
            </a:r>
          </a:p>
          <a:p>
            <a:pPr lvl="0"/>
            <a:r>
              <a:rPr/>
              <a:t>low dose outliers: up to ~49 pg/mL</a:t>
            </a:r>
          </a:p>
          <a:p>
            <a:pPr lvl="0"/>
            <a:r>
              <a:rPr/>
              <a:t>placebo outliers: up to ~53 pg/mL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IFN-gamma: group comparisons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Key plot interpretation</a:t>
            </a:r>
          </a:p>
          <a:p>
            <a:pPr lvl="0"/>
            <a:r>
              <a:rPr>
                <a:latin typeface="Courier"/>
              </a:rPr>
              <a:t>violin plot</a:t>
            </a:r>
            <a:r>
              <a:rPr/>
              <a:t> : shows both the distribution shape and density of IFN-gamma within each treatment group</a:t>
            </a:r>
          </a:p>
          <a:p>
            <a:pPr lvl="0"/>
            <a:r>
              <a:rPr/>
              <a:t>width of the violin reflects the density of observations at that IFN-gamma level</a:t>
            </a:r>
          </a:p>
          <a:p>
            <a:pPr lvl="0"/>
            <a:r>
              <a:rPr/>
              <a:t>widest sections indicate where values are most concentrated within each group</a:t>
            </a:r>
          </a:p>
          <a:p>
            <a:pPr lvl="0"/>
            <a:r>
              <a:rPr/>
              <a:t>overall shape reveals distribution features such as skewness and multimodality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IFN-gamma: group comparisons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Key plot interpretation</a:t>
            </a:r>
          </a:p>
          <a:p>
            <a:pPr lvl="0"/>
            <a:r>
              <a:rPr/>
              <a:t>wider regions indicate values that occur more frequently within a group</a:t>
            </a:r>
          </a:p>
          <a:p>
            <a:pPr lvl="0"/>
            <a:r>
              <a:rPr/>
              <a:t>narrow upper regions indicate fewer patients at high IFN-gamma levels</a:t>
            </a:r>
          </a:p>
          <a:p>
            <a:pPr lvl="0"/>
            <a:r>
              <a:rPr/>
              <a:t>asymmetry in the violin can reveal skewness</a:t>
            </a:r>
          </a:p>
          <a:p>
            <a:pPr lvl="0"/>
            <a:r>
              <a:rPr/>
              <a:t>differences in overall vertical placement still reflect differences in group location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IFN-gamma: group comparisons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Interpretation</a:t>
            </a:r>
          </a:p>
          <a:p>
            <a:pPr lvl="0"/>
            <a:r>
              <a:rPr b="1"/>
              <a:t>high dose group</a:t>
            </a:r>
            <a:r>
              <a:rPr/>
              <a:t>: greatest density around ~18–20 pg/mL with additional density extending into higher values [~30–40 pg/mL</a:t>
            </a:r>
          </a:p>
          <a:p>
            <a:pPr lvl="0"/>
            <a:r>
              <a:rPr b="1"/>
              <a:t>low dose group</a:t>
            </a:r>
            <a:r>
              <a:rPr/>
              <a:t>: centered lower with highest density around ~12–15 pg/mL</a:t>
            </a:r>
          </a:p>
          <a:p>
            <a:pPr lvl="0"/>
            <a:r>
              <a:rPr b="1"/>
              <a:t>placebo group</a:t>
            </a:r>
            <a:r>
              <a:rPr/>
              <a:t>: most concentrated around ~9–12 pg/mL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CD4+ T-cell Count: Group Comparison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Analysis Goals</a:t>
            </a:r>
          </a:p>
          <a:p>
            <a:pPr lvl="0"/>
            <a:r>
              <a:rPr/>
              <a:t>compare median CD4+ T-cell count across treatment groups to assess differences in location</a:t>
            </a:r>
          </a:p>
          <a:p>
            <a:pPr lvl="0"/>
            <a:r>
              <a:rPr/>
              <a:t>compare box heights to assess differences in central spread</a:t>
            </a:r>
          </a:p>
          <a:p>
            <a:pPr lvl="0"/>
            <a:r>
              <a:rPr/>
              <a:t>compare whisker symmetry to assess whether the distributions appear roughly symmetric or more skewed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CD4+ T-cell Count: Group Comparison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Interpretation</a:t>
            </a:r>
          </a:p>
          <a:p>
            <a:pPr lvl="0"/>
            <a:r>
              <a:rPr/>
              <a:t>box plots of CD4+ T-cell count shows a dose-dependent improvement in immune function with moderate variability across patients</a:t>
            </a:r>
          </a:p>
          <a:p>
            <a:pPr lvl="0"/>
            <a:r>
              <a:rPr/>
              <a:t>median CD4 count increases from ~538 cells/µL [placebo] to ~567 cells/µL [low dose] to ~647 cells/µL [high dose]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CD4+ T-cell Count: Group Comparison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Interpretation</a:t>
            </a:r>
          </a:p>
          <a:p>
            <a:pPr lvl="0"/>
            <a:r>
              <a:rPr/>
              <a:t>horizontal position of the bars shows the IFN-gamma range for each treatment arm</a:t>
            </a:r>
          </a:p>
          <a:p>
            <a:pPr lvl="0"/>
            <a:r>
              <a:rPr/>
              <a:t>bar heights show how many patients fall in each interval</a:t>
            </a:r>
          </a:p>
          <a:p>
            <a:pPr lvl="0"/>
            <a:r>
              <a:rPr/>
              <a:t>histograms show that IFN-gamma distributions shift upward from ~11.4 [placebo] to ~14.9 [low dose] to ~19.1 pg/mL [high dose]</a:t>
            </a:r>
          </a:p>
          <a:p>
            <a:pPr lvl="0"/>
            <a:r>
              <a:rPr/>
              <a:t>right-skewness and outliers up to ~50 pg/mL indicates variable but dose-dependent immune response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Summary</a:t>
            </a:r>
          </a:p>
          <a:p>
            <a:pPr lvl="0"/>
            <a:r>
              <a:rPr/>
              <a:t>group-level summaries and plots transform raw biomedical data into interpretable evidence about how biological or clinical processes differ across populations</a:t>
            </a:r>
          </a:p>
          <a:p>
            <a:pPr lvl="0"/>
            <a:r>
              <a:rPr/>
              <a:t>computed group-specific summaries:</a:t>
            </a:r>
          </a:p>
          <a:p>
            <a:pPr lvl="1"/>
            <a:r>
              <a:rPr/>
              <a:t>mean → average level [sensitive to extreme values]</a:t>
            </a:r>
          </a:p>
          <a:p>
            <a:pPr lvl="1"/>
            <a:r>
              <a:rPr/>
              <a:t>median → typical value [robust to skewness]</a:t>
            </a:r>
          </a:p>
          <a:p>
            <a:pPr lvl="1"/>
            <a:r>
              <a:rPr/>
              <a:t>standard deviation / IQR → variability within groups</a:t>
            </a:r>
          </a:p>
          <a:p>
            <a:pPr lvl="0"/>
            <a:r>
              <a:rPr/>
              <a:t>used comparative visualizations:</a:t>
            </a:r>
          </a:p>
          <a:p>
            <a:pPr lvl="1"/>
            <a:r>
              <a:rPr/>
              <a:t>boxplots → summarize quartiles, spread, and outliers</a:t>
            </a:r>
          </a:p>
          <a:p>
            <a:pPr lvl="1"/>
            <a:r>
              <a:rPr/>
              <a:t>violin plots → reveal full distribution shape and density</a:t>
            </a:r>
          </a:p>
          <a:p>
            <a:pPr lvl="0"/>
            <a:r>
              <a:rPr/>
              <a:t>interpreted differences across groups in:</a:t>
            </a:r>
          </a:p>
          <a:p>
            <a:pPr lvl="1"/>
            <a:r>
              <a:rPr/>
              <a:t>location [center of the distribution]</a:t>
            </a:r>
          </a:p>
          <a:p>
            <a:pPr lvl="1"/>
            <a:r>
              <a:rPr/>
              <a:t>spread [variability]</a:t>
            </a:r>
          </a:p>
          <a:p>
            <a:pPr lvl="1"/>
            <a:r>
              <a:rPr/>
              <a:t>distribution shape [skewness, tails, multimodality]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Descriptive Group-Level Summaries</dc:title>
  <dc:creator>Lesley Chapman Hannah, Ph.D., M.S.</dc:creator>
  <cp:keywords/>
  <dcterms:created xsi:type="dcterms:W3CDTF">2026-03-29T20:08:33Z</dcterms:created>
  <dcterms:modified xsi:type="dcterms:W3CDTF">2026-03-29T20:08:33Z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execute">
    <vt:lpwstr/>
  </property>
  <property fmtid="{D5CDD505-2E9C-101B-9397-08002B2CF9AE}" pid="6" name="header-includes">
    <vt:lpwstr/>
  </property>
  <property fmtid="{D5CDD505-2E9C-101B-9397-08002B2CF9AE}" pid="7" name="include-after">
    <vt:lpwstr/>
  </property>
  <property fmtid="{D5CDD505-2E9C-101B-9397-08002B2CF9AE}" pid="8" name="include-before">
    <vt:lpwstr/>
  </property>
  <property fmtid="{D5CDD505-2E9C-101B-9397-08002B2CF9AE}" pid="9" name="labels">
    <vt:lpwstr/>
  </property>
  <property fmtid="{D5CDD505-2E9C-101B-9397-08002B2CF9AE}" pid="10" name="toc-title">
    <vt:lpwstr>Table of contents</vt:lpwstr>
  </property>
</Properties>
</file>